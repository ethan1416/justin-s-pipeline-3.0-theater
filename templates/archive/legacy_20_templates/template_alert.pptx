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F4444"/>
            </a:gs>
            <a:gs pos="100000">
              <a:srgbClr val="B91C1C"/>
            </a:gs>
          </a:gsLst>
          <a:lin scaled="0" ang="11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206848" y="889000"/>
            <a:ext cx="1777999" cy="1777999"/>
          </a:xfrm>
          <a:prstGeom prst="ellipse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33848" y="1016000"/>
            <a:ext cx="1523999" cy="152399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3848" y="1016000"/>
            <a:ext cx="1523999" cy="152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000" b="1" i="0">
                <a:solidFill>
                  <a:srgbClr val="EF4444"/>
                </a:solidFill>
                <a:latin typeface="Arial"/>
              </a:defRPr>
            </a:pPr>
            <a:r>
              <a:t>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5974" y="2920998"/>
            <a:ext cx="10159746" cy="63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 i="0">
                <a:solidFill>
                  <a:srgbClr val="FFFFFF"/>
                </a:solidFill>
                <a:latin typeface="Georgia"/>
              </a:defRPr>
            </a:pPr>
            <a:r>
              <a:t>Medication Safety Alert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9968" y="3682999"/>
            <a:ext cx="9651758" cy="76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Arial"/>
              </a:defRPr>
            </a:pPr>
            <a:r>
              <a:t>High-alert medication requires independent double-check before administration.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0927" y="4698999"/>
            <a:ext cx="6349841" cy="15239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74920" y="4825999"/>
            <a:ext cx="5841854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B91C1C"/>
                </a:solidFill>
                <a:latin typeface="Arial"/>
              </a:defRPr>
            </a:pPr>
            <a:r>
              <a:t>ACTION REQUIRED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74920" y="5181599"/>
            <a:ext cx="177799" cy="177799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0511" y="5143499"/>
            <a:ext cx="5486263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1E3A4C"/>
                </a:solidFill>
                <a:latin typeface="Arial"/>
              </a:defRPr>
            </a:pPr>
            <a:r>
              <a:t>Perform independent double-check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74920" y="5499099"/>
            <a:ext cx="177799" cy="177799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0511" y="5460999"/>
            <a:ext cx="5486263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1E3A4C"/>
                </a:solidFill>
                <a:latin typeface="Arial"/>
              </a:defRPr>
            </a:pPr>
            <a:r>
              <a:t>Verify patient allergies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74920" y="5816599"/>
            <a:ext cx="177799" cy="177799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0511" y="5778499"/>
            <a:ext cx="5486263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1E3A4C"/>
                </a:solidFill>
                <a:latin typeface="Arial"/>
              </a:defRPr>
            </a:pPr>
            <a:r>
              <a:t>Document verification in MAR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5591" y="6426201"/>
            <a:ext cx="11480512" cy="127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389" y="6477001"/>
            <a:ext cx="3809904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6B8494"/>
                </a:solidFill>
                <a:latin typeface="Arial"/>
              </a:defRPr>
            </a:pPr>
            <a:r>
              <a:t>NURSING PROGRAM · 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93213" y="6489701"/>
            <a:ext cx="330200" cy="330200"/>
          </a:xfrm>
          <a:prstGeom prst="roundRect">
            <a:avLst>
              <a:gd name="adj" fmla="val 20000"/>
            </a:avLst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480513" y="6477001"/>
            <a:ext cx="330200" cy="330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33246"/>
              </a:gs>
              <a:gs pos="100000">
                <a:srgbClr val="0C1929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80513" y="6477001"/>
            <a:ext cx="330200" cy="33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67E8F9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